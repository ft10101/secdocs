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7EC11BC-8339-4286-BAD4-6DB1AB8E3B40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19D238-D554-4CF5-942C-F68D4672DB3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8A7A7A-F9BC-4F10-A2F2-EF8F0F9C369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2F8ADA-E57C-4A35-82AA-DF955A40D18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F8B076-520C-4CAB-AFD8-A8A44D7D860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FABB00-6B9A-47BC-BC93-38E0A4C9097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9BBD10-8D4D-4D37-83DB-5C8E53858BE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660EBE-26BC-4382-8BA2-1EB8949605F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887900-9BF8-492D-9E58-106EA977969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DD72AA-C020-47DB-9E74-742D5668C39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6.png"/><Relationship Id="rId6" Type="http://schemas.openxmlformats.org/officeDocument/2006/relationships/image" Target="../media/image1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c42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233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318680" y="2408400"/>
            <a:ext cx="8276400" cy="179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7546"/>
              </a:lnSpc>
              <a:tabLst>
                <a:tab algn="l" pos="0"/>
              </a:tabLst>
            </a:pPr>
            <a:r>
              <a:rPr b="0" lang="en-US" sz="8800" spc="-1" strike="noStrike">
                <a:solidFill>
                  <a:srgbClr val="ffd9be"/>
                </a:solidFill>
                <a:latin typeface="Quattrocento"/>
                <a:ea typeface="Quattrocento"/>
              </a:rPr>
              <a:t>Linux File System Basics</a:t>
            </a:r>
            <a:endParaRPr b="0" lang="en-IN" sz="8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061"/>
              </a:lnSpc>
              <a:tabLst>
                <a:tab algn="l" pos="0"/>
              </a:tabLst>
            </a:pPr>
            <a:endParaRPr b="0" lang="en-IN" sz="21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061"/>
              </a:lnSpc>
              <a:tabLst>
                <a:tab algn="l" pos="0"/>
              </a:tabLst>
            </a:pPr>
            <a:endParaRPr b="0" lang="en-IN" sz="2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833040" y="4209480"/>
            <a:ext cx="7477200" cy="14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833040" y="5897520"/>
            <a:ext cx="354960" cy="354960"/>
          </a:xfrm>
          <a:prstGeom prst="roundRect">
            <a:avLst>
              <a:gd name="adj" fmla="val 25726039"/>
            </a:avLst>
          </a:prstGeom>
          <a:noFill/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" name="Image 2" descr="preencoded.png"/>
          <p:cNvPicPr/>
          <p:nvPr/>
        </p:nvPicPr>
        <p:blipFill>
          <a:blip r:embed="rId1"/>
          <a:stretch/>
        </p:blipFill>
        <p:spPr>
          <a:xfrm>
            <a:off x="781200" y="5733360"/>
            <a:ext cx="621720" cy="621720"/>
          </a:xfrm>
          <a:prstGeom prst="rect">
            <a:avLst/>
          </a:prstGeom>
          <a:ln w="0">
            <a:noFill/>
          </a:ln>
        </p:spPr>
      </p:pic>
      <p:sp>
        <p:nvSpPr>
          <p:cNvPr id="14" name="Text 5"/>
          <p:cNvSpPr/>
          <p:nvPr/>
        </p:nvSpPr>
        <p:spPr>
          <a:xfrm>
            <a:off x="1594080" y="5534640"/>
            <a:ext cx="7584480" cy="22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3061"/>
              </a:lnSpc>
              <a:tabLst>
                <a:tab algn="l" pos="0"/>
              </a:tabLst>
            </a:pPr>
            <a:r>
              <a:rPr b="1" lang="en-US" sz="2190" spc="-1" strike="noStrike">
                <a:solidFill>
                  <a:srgbClr val="f9eee7"/>
                </a:solidFill>
                <a:latin typeface="Quattrocento"/>
                <a:ea typeface="Quattrocento"/>
              </a:rPr>
              <a:t>Presented by:</a:t>
            </a:r>
            <a:endParaRPr b="0" lang="en-IN" sz="21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061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9eee7"/>
                </a:solidFill>
                <a:latin typeface="Quattrocento"/>
                <a:ea typeface="Quattrocento"/>
              </a:rPr>
              <a:t>Peerzada Mohammad Sameem Makhdoomi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061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9eee7"/>
                </a:solidFill>
                <a:latin typeface="Quattrocento"/>
                <a:ea typeface="Quattrocento"/>
              </a:rPr>
              <a:t>CFCS2R INTERN Q1 2024-25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061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9eee7"/>
                </a:solidFill>
                <a:latin typeface="Quattrocento"/>
                <a:ea typeface="Quattrocento"/>
              </a:rPr>
              <a:t>AM-2024PINS1262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" descr=""/>
          <p:cNvPicPr/>
          <p:nvPr/>
        </p:nvPicPr>
        <p:blipFill>
          <a:blip r:embed="rId2"/>
          <a:stretch/>
        </p:blipFill>
        <p:spPr>
          <a:xfrm>
            <a:off x="10187640" y="1598040"/>
            <a:ext cx="2437200" cy="2437200"/>
          </a:xfrm>
          <a:prstGeom prst="rect">
            <a:avLst/>
          </a:prstGeom>
          <a:ln w="0">
            <a:noFill/>
          </a:ln>
        </p:spPr>
      </p:pic>
      <p:pic>
        <p:nvPicPr>
          <p:cNvPr id="16" name="" descr=""/>
          <p:cNvPicPr/>
          <p:nvPr/>
        </p:nvPicPr>
        <p:blipFill>
          <a:blip r:embed="rId3"/>
          <a:stretch/>
        </p:blipFill>
        <p:spPr>
          <a:xfrm>
            <a:off x="10586520" y="4515480"/>
            <a:ext cx="1761480" cy="2085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c42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233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6284880" y="946440"/>
            <a:ext cx="555480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5468"/>
              </a:lnSpc>
              <a:tabLst>
                <a:tab algn="l" pos="0"/>
              </a:tabLst>
            </a:pPr>
            <a:r>
              <a:rPr b="0" lang="en-US" sz="4370" spc="-1" strike="noStrike">
                <a:solidFill>
                  <a:srgbClr val="ffd9be"/>
                </a:solidFill>
                <a:latin typeface="Quattrocento"/>
                <a:ea typeface="Quattrocento"/>
              </a:rPr>
              <a:t>What is a file system?</a:t>
            </a:r>
            <a:endParaRPr b="0" lang="en-IN" sz="43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6175440" y="2215800"/>
            <a:ext cx="7477200" cy="557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f9eee7"/>
                </a:solidFill>
                <a:latin typeface="Quattrocento"/>
                <a:ea typeface="Quattrocento"/>
              </a:rPr>
              <a:t>A file system is the way a computer's operating system organizes and manages files and directories on a storage device.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798"/>
              </a:lnSpc>
              <a:tabLst>
                <a:tab algn="l" pos="0"/>
              </a:tabLst>
            </a:pPr>
            <a:endParaRPr b="0" lang="en-IN" sz="1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f9eee7"/>
                </a:solidFill>
                <a:latin typeface="Quattrocento"/>
                <a:ea typeface="Quattrocento"/>
              </a:rPr>
              <a:t> </a:t>
            </a:r>
            <a:r>
              <a:rPr b="0" lang="en-US" sz="2100" spc="-1" strike="noStrike">
                <a:solidFill>
                  <a:srgbClr val="f9eee7"/>
                </a:solidFill>
                <a:latin typeface="Quattrocento"/>
                <a:ea typeface="Quattrocento"/>
              </a:rPr>
              <a:t>It provides a structured way to store, access, and manage digital information.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798"/>
              </a:lnSpc>
              <a:tabLst>
                <a:tab algn="l" pos="0"/>
              </a:tabLst>
            </a:pPr>
            <a:endParaRPr b="0" lang="en-IN" sz="1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f9eee7"/>
                </a:solidFill>
                <a:latin typeface="Quattrocento"/>
                <a:ea typeface="Quattrocento"/>
              </a:rPr>
              <a:t>The file system defines how data is stored, named, and accessed, allowing the operating system to keep track of where files are located and how to retrieve them efficiently. 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798"/>
              </a:lnSpc>
              <a:tabLst>
                <a:tab algn="l" pos="0"/>
              </a:tabLst>
            </a:pPr>
            <a:endParaRPr b="0" lang="en-IN" sz="1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f9eee7"/>
                </a:solidFill>
                <a:latin typeface="Quattrocento"/>
                <a:ea typeface="Quattrocento"/>
              </a:rPr>
              <a:t>It also handles tasks like creating, deleting, and modifying files and directories.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6319440" y="4753440"/>
            <a:ext cx="7477200" cy="14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0" y="0"/>
            <a:ext cx="5559120" cy="8229600"/>
          </a:xfrm>
          <a:prstGeom prst="rect">
            <a:avLst/>
          </a:prstGeom>
          <a:solidFill>
            <a:srgbClr val="fafafa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" name="" descr=""/>
          <p:cNvPicPr/>
          <p:nvPr/>
        </p:nvPicPr>
        <p:blipFill>
          <a:blip r:embed="rId1"/>
          <a:stretch/>
        </p:blipFill>
        <p:spPr>
          <a:xfrm>
            <a:off x="177840" y="2324160"/>
            <a:ext cx="5381280" cy="3130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c42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233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750240" y="1442160"/>
            <a:ext cx="555480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5468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ffd9be"/>
                </a:solidFill>
                <a:latin typeface="Quattrocento"/>
                <a:ea typeface="Quattrocento"/>
              </a:rPr>
              <a:t>Directory Structure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3"/>
          <p:cNvSpPr/>
          <p:nvPr/>
        </p:nvSpPr>
        <p:spPr>
          <a:xfrm>
            <a:off x="617040" y="2609640"/>
            <a:ext cx="7477200" cy="43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f9eee7"/>
                </a:solidFill>
                <a:latin typeface="Quattrocento"/>
                <a:ea typeface="Quattrocento"/>
              </a:rPr>
              <a:t>In the Linux file system, directories are used to organize files in a hierarchical structure. 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798"/>
              </a:lnSpc>
              <a:tabLst>
                <a:tab algn="l" pos="0"/>
              </a:tabLst>
            </a:pPr>
            <a:endParaRPr b="0" lang="en-IN" sz="1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f9eee7"/>
                </a:solidFill>
                <a:latin typeface="Quattrocento"/>
                <a:ea typeface="Quattrocento"/>
              </a:rPr>
              <a:t>The top-level directory is called the root directory, represented by the forward slash (/).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798"/>
              </a:lnSpc>
              <a:tabLst>
                <a:tab algn="l" pos="0"/>
              </a:tabLst>
            </a:pPr>
            <a:endParaRPr b="0" lang="en-IN" sz="1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f9eee7"/>
                </a:solidFill>
                <a:latin typeface="Quattrocento"/>
                <a:ea typeface="Quattrocento"/>
              </a:rPr>
              <a:t>Subdirectories branch off from the root, creating a tree-like structure where files and folders can be nested within other folders.</a:t>
            </a:r>
            <a:endParaRPr b="0" lang="en-IN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4"/>
          <p:cNvSpPr/>
          <p:nvPr/>
        </p:nvSpPr>
        <p:spPr>
          <a:xfrm>
            <a:off x="833040" y="4931280"/>
            <a:ext cx="7477200" cy="7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8310240" y="0"/>
            <a:ext cx="6427800" cy="8229240"/>
          </a:xfrm>
          <a:prstGeom prst="rect">
            <a:avLst/>
          </a:prstGeom>
          <a:solidFill>
            <a:srgbClr val="fafafa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" name="" descr=""/>
          <p:cNvPicPr/>
          <p:nvPr/>
        </p:nvPicPr>
        <p:blipFill>
          <a:blip r:embed="rId1"/>
          <a:stretch/>
        </p:blipFill>
        <p:spPr>
          <a:xfrm>
            <a:off x="8238240" y="1444320"/>
            <a:ext cx="6550920" cy="4618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c42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34" name="Shape 2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00000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3"/>
          <p:cNvSpPr/>
          <p:nvPr/>
        </p:nvSpPr>
        <p:spPr>
          <a:xfrm>
            <a:off x="2348280" y="1929240"/>
            <a:ext cx="639648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5468"/>
              </a:lnSpc>
              <a:tabLst>
                <a:tab algn="l" pos="0"/>
              </a:tabLst>
            </a:pPr>
            <a:r>
              <a:rPr b="0" lang="en-US" sz="4370" spc="-1" strike="noStrike">
                <a:solidFill>
                  <a:srgbClr val="ffd9be"/>
                </a:solidFill>
                <a:latin typeface="Quattrocento"/>
                <a:ea typeface="Quattrocento"/>
              </a:rPr>
              <a:t>File Types and Extensions</a:t>
            </a:r>
            <a:endParaRPr b="0" lang="en-IN" sz="43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4"/>
          <p:cNvSpPr/>
          <p:nvPr/>
        </p:nvSpPr>
        <p:spPr>
          <a:xfrm>
            <a:off x="2348280" y="2957040"/>
            <a:ext cx="993312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Linux supports a wide variety of file types, each with its own unique extension. These extensions indicate the file's purpose and help the system identify how to handle the file. Common extensions include </a:t>
            </a:r>
            <a:r>
              <a:rPr b="1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.txt</a:t>
            </a:r>
            <a:r>
              <a:rPr b="0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 for text files, </a:t>
            </a:r>
            <a:r>
              <a:rPr b="1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.jpg</a:t>
            </a:r>
            <a:r>
              <a:rPr b="0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 for images, and </a:t>
            </a:r>
            <a:r>
              <a:rPr b="1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.mp3</a:t>
            </a:r>
            <a:r>
              <a:rPr b="0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 for audio files.</a:t>
            </a:r>
            <a:endParaRPr b="0" lang="en-IN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5"/>
          <p:cNvSpPr/>
          <p:nvPr/>
        </p:nvSpPr>
        <p:spPr>
          <a:xfrm>
            <a:off x="2348280" y="4273200"/>
            <a:ext cx="993312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File types are not limited to traditional file extensions. Linux also recognizes files without extensions, such as </a:t>
            </a:r>
            <a:r>
              <a:rPr b="1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executable</a:t>
            </a:r>
            <a:r>
              <a:rPr b="0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 files, which are identified by their </a:t>
            </a:r>
            <a:r>
              <a:rPr b="0" lang="en-US" sz="1750" spc="-1" strike="noStrike" u="sng">
                <a:solidFill>
                  <a:srgbClr val="f9eee7"/>
                </a:solidFill>
                <a:uFillTx/>
                <a:latin typeface="Quattrocento"/>
                <a:ea typeface="Quattrocento"/>
              </a:rPr>
              <a:t>permissions</a:t>
            </a:r>
            <a:r>
              <a:rPr b="0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 rather than their name.</a:t>
            </a:r>
            <a:endParaRPr b="0" lang="en-IN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6"/>
          <p:cNvSpPr/>
          <p:nvPr/>
        </p:nvSpPr>
        <p:spPr>
          <a:xfrm>
            <a:off x="2348280" y="5589360"/>
            <a:ext cx="9933120" cy="7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Understanding file types and extensions is crucial for navigating and managing the Linux file system effectively.</a:t>
            </a:r>
            <a:endParaRPr b="0" lang="en-IN" sz="1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c42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1"/>
          <p:cNvSpPr/>
          <p:nvPr/>
        </p:nvSpPr>
        <p:spPr>
          <a:xfrm>
            <a:off x="360" y="0"/>
            <a:ext cx="14630040" cy="8229240"/>
          </a:xfrm>
          <a:prstGeom prst="rect">
            <a:avLst/>
          </a:prstGeom>
          <a:solidFill>
            <a:srgbClr val="1233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2"/>
          <p:cNvSpPr/>
          <p:nvPr/>
        </p:nvSpPr>
        <p:spPr>
          <a:xfrm>
            <a:off x="738000" y="1016640"/>
            <a:ext cx="555480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5468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ffd9be"/>
                </a:solidFill>
                <a:latin typeface="Quattrocento"/>
                <a:ea typeface="Quattrocento"/>
              </a:rPr>
              <a:t>File Permissions</a:t>
            </a:r>
            <a:endParaRPr b="0" lang="en-IN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3"/>
          <p:cNvSpPr/>
          <p:nvPr/>
        </p:nvSpPr>
        <p:spPr>
          <a:xfrm>
            <a:off x="789480" y="2136240"/>
            <a:ext cx="5531400" cy="55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9eee7"/>
                </a:solidFill>
                <a:latin typeface="Quattrocento"/>
                <a:ea typeface="Quattrocento"/>
              </a:rPr>
              <a:t>Linux file systems use a permissions system to control access to files and directories.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798"/>
              </a:lnSpc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9eee7"/>
                </a:solidFill>
                <a:latin typeface="Quattrocento"/>
                <a:ea typeface="Quattrocento"/>
              </a:rPr>
              <a:t>Each file and directory has an owner, a group, and a set of permissions that dictate who can read, write, or execute the item.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798"/>
              </a:lnSpc>
              <a:tabLst>
                <a:tab algn="l" pos="0"/>
              </a:tabLst>
            </a:pPr>
            <a:endParaRPr b="0" lang="en-IN" sz="1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9eee7"/>
                </a:solidFill>
                <a:latin typeface="Quattrocento"/>
                <a:ea typeface="Quattrocento"/>
              </a:rPr>
              <a:t>Permissions are displayed as a series of three characters (e.g. rwx) for the owner, group, and others. The 'r' stands for read, 'w' for write, and 'x' for execute.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2348280" y="4446000"/>
            <a:ext cx="4695480" cy="14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7103880" y="1194840"/>
            <a:ext cx="6712200" cy="5663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c42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233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1808280" y="1833840"/>
            <a:ext cx="652860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5468"/>
              </a:lnSpc>
              <a:tabLst>
                <a:tab algn="l" pos="0"/>
              </a:tabLst>
            </a:pPr>
            <a:r>
              <a:rPr b="0" lang="en-US" sz="6600" spc="-1" strike="noStrike">
                <a:solidFill>
                  <a:srgbClr val="ffd9be"/>
                </a:solidFill>
                <a:latin typeface="Quattrocento"/>
                <a:ea typeface="Quattrocento"/>
              </a:rPr>
              <a:t>Navigating the File System</a:t>
            </a:r>
            <a:endParaRPr b="0" lang="en-IN" sz="6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Image 0" descr="preencoded.png"/>
          <p:cNvPicPr/>
          <p:nvPr/>
        </p:nvPicPr>
        <p:blipFill>
          <a:blip r:embed="rId1"/>
          <a:stretch/>
        </p:blipFill>
        <p:spPr>
          <a:xfrm>
            <a:off x="2348280" y="3044520"/>
            <a:ext cx="443880" cy="443880"/>
          </a:xfrm>
          <a:prstGeom prst="rect">
            <a:avLst/>
          </a:prstGeom>
          <a:ln w="0">
            <a:noFill/>
          </a:ln>
        </p:spPr>
      </p:pic>
      <p:sp>
        <p:nvSpPr>
          <p:cNvPr id="49" name="Text 3"/>
          <p:cNvSpPr/>
          <p:nvPr/>
        </p:nvSpPr>
        <p:spPr>
          <a:xfrm>
            <a:off x="2348280" y="3710880"/>
            <a:ext cx="2777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33"/>
              </a:lnSpc>
              <a:tabLst>
                <a:tab algn="l" pos="0"/>
              </a:tabLst>
            </a:pPr>
            <a:r>
              <a:rPr b="0" lang="en-US" sz="2190" spc="-1" strike="noStrike">
                <a:solidFill>
                  <a:srgbClr val="ffd9be"/>
                </a:solidFill>
                <a:latin typeface="Quattrocento"/>
                <a:ea typeface="Quattrocento"/>
              </a:rPr>
              <a:t>Directory Navigation</a:t>
            </a:r>
            <a:endParaRPr b="0" lang="en-IN" sz="2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4"/>
          <p:cNvSpPr/>
          <p:nvPr/>
        </p:nvSpPr>
        <p:spPr>
          <a:xfrm>
            <a:off x="2348280" y="4191480"/>
            <a:ext cx="3088440" cy="144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Use the </a:t>
            </a:r>
            <a:r>
              <a:rPr b="0" lang="en-US" sz="1750" spc="-1" strike="noStrike">
                <a:solidFill>
                  <a:srgbClr val="f9eee7"/>
                </a:solidFill>
                <a:highlight>
                  <a:srgbClr val="441709"/>
                </a:highlight>
                <a:latin typeface="Consolas"/>
                <a:ea typeface="Consolas"/>
              </a:rPr>
              <a:t>cd</a:t>
            </a:r>
            <a:r>
              <a:rPr b="0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 command to change directories and explore the file system hierarchy.</a:t>
            </a:r>
            <a:endParaRPr b="0" lang="en-IN" sz="1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" name="Image 1" descr="preencoded.png"/>
          <p:cNvPicPr/>
          <p:nvPr/>
        </p:nvPicPr>
        <p:blipFill>
          <a:blip r:embed="rId2"/>
          <a:stretch/>
        </p:blipFill>
        <p:spPr>
          <a:xfrm>
            <a:off x="5770440" y="3044520"/>
            <a:ext cx="443880" cy="443880"/>
          </a:xfrm>
          <a:prstGeom prst="rect">
            <a:avLst/>
          </a:prstGeom>
          <a:ln w="0">
            <a:noFill/>
          </a:ln>
        </p:spPr>
      </p:pic>
      <p:sp>
        <p:nvSpPr>
          <p:cNvPr id="52" name="Text 5"/>
          <p:cNvSpPr/>
          <p:nvPr/>
        </p:nvSpPr>
        <p:spPr>
          <a:xfrm>
            <a:off x="5770440" y="3710880"/>
            <a:ext cx="2777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33"/>
              </a:lnSpc>
              <a:tabLst>
                <a:tab algn="l" pos="0"/>
              </a:tabLst>
            </a:pPr>
            <a:r>
              <a:rPr b="0" lang="en-US" sz="2190" spc="-1" strike="noStrike">
                <a:solidFill>
                  <a:srgbClr val="ffd9be"/>
                </a:solidFill>
                <a:latin typeface="Quattrocento"/>
                <a:ea typeface="Quattrocento"/>
              </a:rPr>
              <a:t>Listing Files</a:t>
            </a:r>
            <a:endParaRPr b="0" lang="en-IN" sz="2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5770440" y="4191480"/>
            <a:ext cx="3088440" cy="144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The </a:t>
            </a:r>
            <a:r>
              <a:rPr b="0" lang="en-US" sz="1750" spc="-1" strike="noStrike">
                <a:solidFill>
                  <a:srgbClr val="f9eee7"/>
                </a:solidFill>
                <a:highlight>
                  <a:srgbClr val="441709"/>
                </a:highlight>
                <a:latin typeface="Consolas"/>
                <a:ea typeface="Consolas"/>
              </a:rPr>
              <a:t>ls</a:t>
            </a:r>
            <a:r>
              <a:rPr b="0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 command shows the contents of the current directory, including files and subdirectories.</a:t>
            </a:r>
            <a:endParaRPr b="0" lang="en-IN" sz="1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" name="Image 2" descr="preencoded.png"/>
          <p:cNvPicPr/>
          <p:nvPr/>
        </p:nvPicPr>
        <p:blipFill>
          <a:blip r:embed="rId3"/>
          <a:stretch/>
        </p:blipFill>
        <p:spPr>
          <a:xfrm>
            <a:off x="9192960" y="3044520"/>
            <a:ext cx="443880" cy="443880"/>
          </a:xfrm>
          <a:prstGeom prst="rect">
            <a:avLst/>
          </a:prstGeom>
          <a:ln w="0">
            <a:noFill/>
          </a:ln>
        </p:spPr>
      </p:pic>
      <p:sp>
        <p:nvSpPr>
          <p:cNvPr id="55" name="Text 7"/>
          <p:cNvSpPr/>
          <p:nvPr/>
        </p:nvSpPr>
        <p:spPr>
          <a:xfrm>
            <a:off x="9192960" y="3710880"/>
            <a:ext cx="2777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33"/>
              </a:lnSpc>
              <a:tabLst>
                <a:tab algn="l" pos="0"/>
              </a:tabLst>
            </a:pPr>
            <a:r>
              <a:rPr b="0" lang="en-US" sz="2190" spc="-1" strike="noStrike">
                <a:solidFill>
                  <a:srgbClr val="ffd9be"/>
                </a:solidFill>
                <a:latin typeface="Quattrocento"/>
                <a:ea typeface="Quattrocento"/>
              </a:rPr>
              <a:t>Path Navigation</a:t>
            </a:r>
            <a:endParaRPr b="0" lang="en-IN" sz="2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8"/>
          <p:cNvSpPr/>
          <p:nvPr/>
        </p:nvSpPr>
        <p:spPr>
          <a:xfrm>
            <a:off x="9192960" y="4191480"/>
            <a:ext cx="3088800" cy="21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Absolute paths define the complete file location from the root directory, while relative paths describe the location relative to the current directory.</a:t>
            </a:r>
            <a:endParaRPr b="0" lang="en-IN" sz="1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" name="" descr=""/>
          <p:cNvPicPr/>
          <p:nvPr/>
        </p:nvPicPr>
        <p:blipFill>
          <a:blip r:embed="rId4"/>
          <a:srcRect l="33402" t="28120" r="28623" b="57121"/>
          <a:stretch/>
        </p:blipFill>
        <p:spPr>
          <a:xfrm>
            <a:off x="863280" y="6311880"/>
            <a:ext cx="4420080" cy="965160"/>
          </a:xfrm>
          <a:prstGeom prst="rect">
            <a:avLst/>
          </a:prstGeom>
          <a:ln w="0">
            <a:noFill/>
          </a:ln>
        </p:spPr>
      </p:pic>
      <p:pic>
        <p:nvPicPr>
          <p:cNvPr id="58" name="" descr=""/>
          <p:cNvPicPr/>
          <p:nvPr/>
        </p:nvPicPr>
        <p:blipFill>
          <a:blip r:embed="rId5"/>
          <a:srcRect l="33698" t="54857" r="51718" b="37500"/>
          <a:stretch/>
        </p:blipFill>
        <p:spPr>
          <a:xfrm>
            <a:off x="6082920" y="6527520"/>
            <a:ext cx="2587680" cy="761760"/>
          </a:xfrm>
          <a:prstGeom prst="rect">
            <a:avLst/>
          </a:prstGeom>
          <a:ln w="0">
            <a:noFill/>
          </a:ln>
        </p:spPr>
      </p:pic>
      <p:pic>
        <p:nvPicPr>
          <p:cNvPr id="59" name="" descr=""/>
          <p:cNvPicPr/>
          <p:nvPr/>
        </p:nvPicPr>
        <p:blipFill>
          <a:blip r:embed="rId6"/>
          <a:srcRect l="33111" t="23086" r="51563" b="69966"/>
          <a:stretch/>
        </p:blipFill>
        <p:spPr>
          <a:xfrm>
            <a:off x="9232920" y="6566040"/>
            <a:ext cx="2693160" cy="685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c42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233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4490640" y="934920"/>
            <a:ext cx="911520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5468"/>
              </a:lnSpc>
              <a:tabLst>
                <a:tab algn="l" pos="0"/>
              </a:tabLst>
            </a:pPr>
            <a:r>
              <a:rPr b="0" lang="en-US" sz="4370" spc="-1" strike="noStrike">
                <a:solidFill>
                  <a:srgbClr val="ffd9be"/>
                </a:solidFill>
                <a:latin typeface="Quattrocento"/>
                <a:ea typeface="Quattrocento"/>
              </a:rPr>
              <a:t>Creating, Copying, and Deleting Files</a:t>
            </a:r>
            <a:endParaRPr b="0" lang="en-IN" sz="43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Image 1" descr="preencoded.png"/>
          <p:cNvPicPr/>
          <p:nvPr/>
        </p:nvPicPr>
        <p:blipFill>
          <a:blip r:embed="rId1"/>
          <a:stretch/>
        </p:blipFill>
        <p:spPr>
          <a:xfrm>
            <a:off x="4490640" y="1962360"/>
            <a:ext cx="1110600" cy="1776960"/>
          </a:xfrm>
          <a:prstGeom prst="rect">
            <a:avLst/>
          </a:prstGeom>
          <a:ln w="0">
            <a:noFill/>
          </a:ln>
        </p:spPr>
      </p:pic>
      <p:sp>
        <p:nvSpPr>
          <p:cNvPr id="64" name="Text 3"/>
          <p:cNvSpPr/>
          <p:nvPr/>
        </p:nvSpPr>
        <p:spPr>
          <a:xfrm>
            <a:off x="5934960" y="2184480"/>
            <a:ext cx="2777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33"/>
              </a:lnSpc>
              <a:tabLst>
                <a:tab algn="l" pos="0"/>
              </a:tabLst>
            </a:pPr>
            <a:r>
              <a:rPr b="0" lang="en-US" sz="2190" spc="-1" strike="noStrike">
                <a:solidFill>
                  <a:srgbClr val="ffd9be"/>
                </a:solidFill>
                <a:latin typeface="Quattrocento"/>
                <a:ea typeface="Quattrocento"/>
              </a:rPr>
              <a:t>Creating Files</a:t>
            </a:r>
            <a:endParaRPr b="0" lang="en-IN" sz="2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5934960" y="2665080"/>
            <a:ext cx="7861680" cy="7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Use the </a:t>
            </a:r>
            <a:r>
              <a:rPr b="1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touch</a:t>
            </a:r>
            <a:r>
              <a:rPr b="0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 command to create new files. Specify the filename and the file will be created in the current directory.</a:t>
            </a:r>
            <a:endParaRPr b="0" lang="en-IN" sz="1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Image 2" descr="preencoded.png"/>
          <p:cNvPicPr/>
          <p:nvPr/>
        </p:nvPicPr>
        <p:blipFill>
          <a:blip r:embed="rId2"/>
          <a:stretch/>
        </p:blipFill>
        <p:spPr>
          <a:xfrm>
            <a:off x="4490640" y="3740040"/>
            <a:ext cx="1110600" cy="1776960"/>
          </a:xfrm>
          <a:prstGeom prst="rect">
            <a:avLst/>
          </a:prstGeom>
          <a:ln w="0">
            <a:noFill/>
          </a:ln>
        </p:spPr>
      </p:pic>
      <p:sp>
        <p:nvSpPr>
          <p:cNvPr id="67" name="Text 5"/>
          <p:cNvSpPr/>
          <p:nvPr/>
        </p:nvSpPr>
        <p:spPr>
          <a:xfrm>
            <a:off x="5934960" y="3962160"/>
            <a:ext cx="2777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33"/>
              </a:lnSpc>
              <a:tabLst>
                <a:tab algn="l" pos="0"/>
              </a:tabLst>
            </a:pPr>
            <a:r>
              <a:rPr b="0" lang="en-US" sz="2190" spc="-1" strike="noStrike">
                <a:solidFill>
                  <a:srgbClr val="ffd9be"/>
                </a:solidFill>
                <a:latin typeface="Quattrocento"/>
                <a:ea typeface="Quattrocento"/>
              </a:rPr>
              <a:t>Copying Files</a:t>
            </a:r>
            <a:endParaRPr b="0" lang="en-IN" sz="2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5934960" y="4442400"/>
            <a:ext cx="7861680" cy="7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Utilize the </a:t>
            </a:r>
            <a:r>
              <a:rPr b="1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cp</a:t>
            </a:r>
            <a:r>
              <a:rPr b="0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 command to make copies of files. Provide the source and destination filenames to duplicate a file.</a:t>
            </a:r>
            <a:endParaRPr b="0" lang="en-IN" sz="1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Image 3" descr="preencoded.png"/>
          <p:cNvPicPr/>
          <p:nvPr/>
        </p:nvPicPr>
        <p:blipFill>
          <a:blip r:embed="rId3"/>
          <a:stretch/>
        </p:blipFill>
        <p:spPr>
          <a:xfrm>
            <a:off x="4490640" y="5517360"/>
            <a:ext cx="1110600" cy="1776960"/>
          </a:xfrm>
          <a:prstGeom prst="rect">
            <a:avLst/>
          </a:prstGeom>
          <a:ln w="0">
            <a:noFill/>
          </a:ln>
        </p:spPr>
      </p:pic>
      <p:sp>
        <p:nvSpPr>
          <p:cNvPr id="70" name="Text 7"/>
          <p:cNvSpPr/>
          <p:nvPr/>
        </p:nvSpPr>
        <p:spPr>
          <a:xfrm>
            <a:off x="5934960" y="5739480"/>
            <a:ext cx="2777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33"/>
              </a:lnSpc>
              <a:tabLst>
                <a:tab algn="l" pos="0"/>
              </a:tabLst>
            </a:pPr>
            <a:r>
              <a:rPr b="0" lang="en-US" sz="2190" spc="-1" strike="noStrike">
                <a:solidFill>
                  <a:srgbClr val="ffd9be"/>
                </a:solidFill>
                <a:latin typeface="Quattrocento"/>
                <a:ea typeface="Quattrocento"/>
              </a:rPr>
              <a:t>Deleting Files</a:t>
            </a:r>
            <a:endParaRPr b="0" lang="en-IN" sz="2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5934960" y="6220080"/>
            <a:ext cx="7861680" cy="7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The </a:t>
            </a:r>
            <a:r>
              <a:rPr b="1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rm</a:t>
            </a:r>
            <a:r>
              <a:rPr b="0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 command will remove files permanently. Be cautious, as deleted files cannot be recovered.</a:t>
            </a:r>
            <a:endParaRPr b="0" lang="en-IN" sz="1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4"/>
          <a:srcRect l="33446" t="23588" r="51273" b="70556"/>
          <a:stretch/>
        </p:blipFill>
        <p:spPr>
          <a:xfrm>
            <a:off x="152280" y="2315520"/>
            <a:ext cx="4090680" cy="914760"/>
          </a:xfrm>
          <a:prstGeom prst="rect">
            <a:avLst/>
          </a:prstGeom>
          <a:ln w="0">
            <a:noFill/>
          </a:ln>
        </p:spPr>
      </p:pic>
      <p:pic>
        <p:nvPicPr>
          <p:cNvPr id="73" name="" descr=""/>
          <p:cNvPicPr/>
          <p:nvPr/>
        </p:nvPicPr>
        <p:blipFill>
          <a:blip r:embed="rId5"/>
          <a:srcRect l="33158" t="28873" r="42828" b="64326"/>
          <a:stretch/>
        </p:blipFill>
        <p:spPr>
          <a:xfrm>
            <a:off x="143640" y="3920400"/>
            <a:ext cx="4171320" cy="897480"/>
          </a:xfrm>
          <a:prstGeom prst="rect">
            <a:avLst/>
          </a:prstGeom>
          <a:ln w="0">
            <a:noFill/>
          </a:ln>
        </p:spPr>
      </p:pic>
      <p:pic>
        <p:nvPicPr>
          <p:cNvPr id="74" name="" descr=""/>
          <p:cNvPicPr/>
          <p:nvPr/>
        </p:nvPicPr>
        <p:blipFill>
          <a:blip r:embed="rId6"/>
          <a:srcRect l="33559" t="33848" r="51757" b="58337"/>
          <a:stretch/>
        </p:blipFill>
        <p:spPr>
          <a:xfrm>
            <a:off x="228240" y="5715000"/>
            <a:ext cx="3900960" cy="1085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c42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233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4490640" y="925560"/>
            <a:ext cx="555480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5468"/>
              </a:lnSpc>
              <a:tabLst>
                <a:tab algn="l" pos="0"/>
              </a:tabLst>
            </a:pPr>
            <a:r>
              <a:rPr b="0" lang="en-US" sz="4370" spc="-1" strike="noStrike">
                <a:solidFill>
                  <a:srgbClr val="ffd9be"/>
                </a:solidFill>
                <a:latin typeface="Quattrocento"/>
                <a:ea typeface="Quattrocento"/>
              </a:rPr>
              <a:t>Searching for Files</a:t>
            </a:r>
            <a:endParaRPr b="0" lang="en-IN" sz="43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3"/>
          <p:cNvSpPr/>
          <p:nvPr/>
        </p:nvSpPr>
        <p:spPr>
          <a:xfrm>
            <a:off x="4810320" y="1953000"/>
            <a:ext cx="27360" cy="5350680"/>
          </a:xfrm>
          <a:prstGeom prst="rect">
            <a:avLst/>
          </a:prstGeom>
          <a:solidFill>
            <a:srgbClr val="ef9c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4"/>
          <p:cNvSpPr/>
          <p:nvPr/>
        </p:nvSpPr>
        <p:spPr>
          <a:xfrm>
            <a:off x="5074200" y="2362680"/>
            <a:ext cx="777240" cy="27360"/>
          </a:xfrm>
          <a:prstGeom prst="rect">
            <a:avLst/>
          </a:prstGeom>
          <a:solidFill>
            <a:srgbClr val="ef9c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280" bIns="-1728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5"/>
          <p:cNvSpPr/>
          <p:nvPr/>
        </p:nvSpPr>
        <p:spPr>
          <a:xfrm>
            <a:off x="4574160" y="2126520"/>
            <a:ext cx="499680" cy="499680"/>
          </a:xfrm>
          <a:prstGeom prst="roundRect">
            <a:avLst>
              <a:gd name="adj" fmla="val 13333"/>
            </a:avLst>
          </a:prstGeom>
          <a:solidFill>
            <a:srgbClr val="234a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4764960" y="2168280"/>
            <a:ext cx="11772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3280"/>
              </a:lnSpc>
              <a:tabLst>
                <a:tab algn="l" pos="0"/>
              </a:tabLst>
            </a:pPr>
            <a:r>
              <a:rPr b="0" lang="en-US" sz="2620" spc="-1" strike="noStrike">
                <a:solidFill>
                  <a:srgbClr val="ffd9be"/>
                </a:solidFill>
                <a:latin typeface="Quattrocento"/>
                <a:ea typeface="Quattrocento"/>
              </a:rPr>
              <a:t>1</a:t>
            </a:r>
            <a:endParaRPr b="0" lang="en-IN" sz="2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7"/>
          <p:cNvSpPr/>
          <p:nvPr/>
        </p:nvSpPr>
        <p:spPr>
          <a:xfrm>
            <a:off x="6046200" y="2175120"/>
            <a:ext cx="2777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33"/>
              </a:lnSpc>
              <a:tabLst>
                <a:tab algn="l" pos="0"/>
              </a:tabLst>
            </a:pPr>
            <a:r>
              <a:rPr b="0" lang="en-US" sz="2190" spc="-1" strike="noStrike">
                <a:solidFill>
                  <a:srgbClr val="ffd9be"/>
                </a:solidFill>
                <a:latin typeface="Quattrocento"/>
                <a:ea typeface="Quattrocento"/>
              </a:rPr>
              <a:t>Find by Name</a:t>
            </a:r>
            <a:endParaRPr b="0" lang="en-IN" sz="2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8"/>
          <p:cNvSpPr/>
          <p:nvPr/>
        </p:nvSpPr>
        <p:spPr>
          <a:xfrm>
            <a:off x="6046200" y="2655720"/>
            <a:ext cx="7750800" cy="7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Use the </a:t>
            </a:r>
            <a:r>
              <a:rPr b="1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find</a:t>
            </a:r>
            <a:r>
              <a:rPr b="0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 command to locate files by their name. You can search the entire file system or specific directories.</a:t>
            </a:r>
            <a:endParaRPr b="0" lang="en-IN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9"/>
          <p:cNvSpPr/>
          <p:nvPr/>
        </p:nvSpPr>
        <p:spPr>
          <a:xfrm>
            <a:off x="5074200" y="4220640"/>
            <a:ext cx="777240" cy="27360"/>
          </a:xfrm>
          <a:prstGeom prst="rect">
            <a:avLst/>
          </a:prstGeom>
          <a:solidFill>
            <a:srgbClr val="ef9c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280" bIns="-1728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10"/>
          <p:cNvSpPr/>
          <p:nvPr/>
        </p:nvSpPr>
        <p:spPr>
          <a:xfrm>
            <a:off x="4574160" y="3984480"/>
            <a:ext cx="499680" cy="499680"/>
          </a:xfrm>
          <a:prstGeom prst="roundRect">
            <a:avLst>
              <a:gd name="adj" fmla="val 13333"/>
            </a:avLst>
          </a:prstGeom>
          <a:solidFill>
            <a:srgbClr val="234a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11"/>
          <p:cNvSpPr/>
          <p:nvPr/>
        </p:nvSpPr>
        <p:spPr>
          <a:xfrm>
            <a:off x="4734720" y="4026240"/>
            <a:ext cx="17820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3280"/>
              </a:lnSpc>
              <a:tabLst>
                <a:tab algn="l" pos="0"/>
              </a:tabLst>
            </a:pPr>
            <a:r>
              <a:rPr b="0" lang="en-US" sz="2620" spc="-1" strike="noStrike">
                <a:solidFill>
                  <a:srgbClr val="ffd9be"/>
                </a:solidFill>
                <a:latin typeface="Quattrocento"/>
                <a:ea typeface="Quattrocento"/>
              </a:rPr>
              <a:t>2</a:t>
            </a:r>
            <a:endParaRPr b="0" lang="en-IN" sz="2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6046200" y="4033080"/>
            <a:ext cx="2777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33"/>
              </a:lnSpc>
              <a:tabLst>
                <a:tab algn="l" pos="0"/>
              </a:tabLst>
            </a:pPr>
            <a:r>
              <a:rPr b="0" lang="en-US" sz="2190" spc="-1" strike="noStrike">
                <a:solidFill>
                  <a:srgbClr val="ffd9be"/>
                </a:solidFill>
                <a:latin typeface="Quattrocento"/>
                <a:ea typeface="Quattrocento"/>
              </a:rPr>
              <a:t>Search Contents</a:t>
            </a:r>
            <a:endParaRPr b="0" lang="en-IN" sz="2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3"/>
          <p:cNvSpPr/>
          <p:nvPr/>
        </p:nvSpPr>
        <p:spPr>
          <a:xfrm>
            <a:off x="6046200" y="4513320"/>
            <a:ext cx="7750800" cy="7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The </a:t>
            </a:r>
            <a:r>
              <a:rPr b="1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grep</a:t>
            </a:r>
            <a:r>
              <a:rPr b="0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 command allows you to search the contents of files for a specific pattern or keyword.</a:t>
            </a:r>
            <a:endParaRPr b="0" lang="en-IN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14"/>
          <p:cNvSpPr/>
          <p:nvPr/>
        </p:nvSpPr>
        <p:spPr>
          <a:xfrm>
            <a:off x="5074200" y="6078240"/>
            <a:ext cx="777240" cy="27360"/>
          </a:xfrm>
          <a:prstGeom prst="rect">
            <a:avLst/>
          </a:prstGeom>
          <a:solidFill>
            <a:srgbClr val="ef9c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280" bIns="-1728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15"/>
          <p:cNvSpPr/>
          <p:nvPr/>
        </p:nvSpPr>
        <p:spPr>
          <a:xfrm>
            <a:off x="4574160" y="5842080"/>
            <a:ext cx="499680" cy="499680"/>
          </a:xfrm>
          <a:prstGeom prst="roundRect">
            <a:avLst>
              <a:gd name="adj" fmla="val 13333"/>
            </a:avLst>
          </a:prstGeom>
          <a:solidFill>
            <a:srgbClr val="234a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16"/>
          <p:cNvSpPr/>
          <p:nvPr/>
        </p:nvSpPr>
        <p:spPr>
          <a:xfrm>
            <a:off x="4733280" y="5883840"/>
            <a:ext cx="18108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ts val="3280"/>
              </a:lnSpc>
              <a:tabLst>
                <a:tab algn="l" pos="0"/>
              </a:tabLst>
            </a:pPr>
            <a:r>
              <a:rPr b="0" lang="en-US" sz="2620" spc="-1" strike="noStrike">
                <a:solidFill>
                  <a:srgbClr val="ffd9be"/>
                </a:solidFill>
                <a:latin typeface="Quattrocento"/>
                <a:ea typeface="Quattrocento"/>
              </a:rPr>
              <a:t>3</a:t>
            </a:r>
            <a:endParaRPr b="0" lang="en-IN" sz="2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7"/>
          <p:cNvSpPr/>
          <p:nvPr/>
        </p:nvSpPr>
        <p:spPr>
          <a:xfrm>
            <a:off x="6046200" y="5890680"/>
            <a:ext cx="2777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733"/>
              </a:lnSpc>
              <a:tabLst>
                <a:tab algn="l" pos="0"/>
              </a:tabLst>
            </a:pPr>
            <a:r>
              <a:rPr b="0" lang="en-US" sz="2190" spc="-1" strike="noStrike">
                <a:solidFill>
                  <a:srgbClr val="ffd9be"/>
                </a:solidFill>
                <a:latin typeface="Quattrocento"/>
                <a:ea typeface="Quattrocento"/>
              </a:rPr>
              <a:t>Use Wildcards</a:t>
            </a:r>
            <a:endParaRPr b="0" lang="en-IN" sz="21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8"/>
          <p:cNvSpPr/>
          <p:nvPr/>
        </p:nvSpPr>
        <p:spPr>
          <a:xfrm>
            <a:off x="6046200" y="6371280"/>
            <a:ext cx="7750800" cy="7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798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Wildcards like </a:t>
            </a:r>
            <a:r>
              <a:rPr b="1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*</a:t>
            </a:r>
            <a:r>
              <a:rPr b="0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 and </a:t>
            </a:r>
            <a:r>
              <a:rPr b="1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?</a:t>
            </a:r>
            <a:r>
              <a:rPr b="0" lang="en-US" sz="1750" spc="-1" strike="noStrike">
                <a:solidFill>
                  <a:srgbClr val="f9eee7"/>
                </a:solidFill>
                <a:latin typeface="Quattrocento"/>
                <a:ea typeface="Quattrocento"/>
              </a:rPr>
              <a:t> can be used to perform more advanced filename searches, matching multiple characters.</a:t>
            </a:r>
            <a:endParaRPr b="0" lang="en-IN" sz="1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rcRect l="33296" t="22874" r="51757" b="68898"/>
          <a:stretch/>
        </p:blipFill>
        <p:spPr>
          <a:xfrm>
            <a:off x="266400" y="1733400"/>
            <a:ext cx="3944880" cy="1219320"/>
          </a:xfrm>
          <a:prstGeom prst="rect">
            <a:avLst/>
          </a:prstGeom>
          <a:ln w="0">
            <a:noFill/>
          </a:ln>
        </p:spPr>
      </p:pic>
      <p:pic>
        <p:nvPicPr>
          <p:cNvPr id="95" name="" descr=""/>
          <p:cNvPicPr/>
          <p:nvPr/>
        </p:nvPicPr>
        <p:blipFill>
          <a:blip r:embed="rId2"/>
          <a:srcRect l="33247" t="30463" r="53077" b="61540"/>
          <a:stretch/>
        </p:blipFill>
        <p:spPr>
          <a:xfrm>
            <a:off x="285480" y="3687120"/>
            <a:ext cx="3924360" cy="1289160"/>
          </a:xfrm>
          <a:prstGeom prst="rect">
            <a:avLst/>
          </a:prstGeom>
          <a:ln w="0">
            <a:noFill/>
          </a:ln>
        </p:spPr>
      </p:pic>
      <p:pic>
        <p:nvPicPr>
          <p:cNvPr id="96" name="" descr=""/>
          <p:cNvPicPr/>
          <p:nvPr/>
        </p:nvPicPr>
        <p:blipFill>
          <a:blip r:embed="rId3"/>
          <a:srcRect l="33490" t="48720" r="52490" b="43228"/>
          <a:stretch/>
        </p:blipFill>
        <p:spPr>
          <a:xfrm>
            <a:off x="389880" y="5829480"/>
            <a:ext cx="3838680" cy="1238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2"/>
          <p:cNvSpPr/>
          <p:nvPr/>
        </p:nvSpPr>
        <p:spPr>
          <a:xfrm>
            <a:off x="869040" y="481320"/>
            <a:ext cx="66517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4306"/>
              </a:lnSpc>
              <a:tabLst>
                <a:tab algn="l" pos="0"/>
              </a:tabLst>
            </a:pPr>
            <a:r>
              <a:rPr b="0" lang="en-US" sz="3440" spc="-1" strike="noStrike">
                <a:solidFill>
                  <a:srgbClr val="ffd9be"/>
                </a:solidFill>
                <a:latin typeface="Quattrocento"/>
                <a:ea typeface="Quattrocento"/>
              </a:rPr>
              <a:t>Common Linux File System Types</a:t>
            </a:r>
            <a:endParaRPr b="0" lang="en-IN" sz="34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3"/>
          <p:cNvSpPr/>
          <p:nvPr/>
        </p:nvSpPr>
        <p:spPr>
          <a:xfrm>
            <a:off x="1044000" y="1490760"/>
            <a:ext cx="355824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205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9eee7"/>
                </a:solidFill>
                <a:latin typeface="Quattrocento"/>
                <a:ea typeface="Quattrocento"/>
              </a:rPr>
              <a:t>File System Type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4960080" y="1490760"/>
            <a:ext cx="355824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205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9eee7"/>
                </a:solidFill>
                <a:latin typeface="Quattrocento"/>
                <a:ea typeface="Quattrocento"/>
              </a:rPr>
              <a:t>Description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5"/>
          <p:cNvSpPr/>
          <p:nvPr/>
        </p:nvSpPr>
        <p:spPr>
          <a:xfrm>
            <a:off x="869040" y="1883520"/>
            <a:ext cx="13246920" cy="1344960"/>
          </a:xfrm>
          <a:prstGeom prst="rect">
            <a:avLst/>
          </a:prstGeom>
          <a:solidFill>
            <a:srgbClr val="234a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6"/>
          <p:cNvSpPr/>
          <p:nvPr/>
        </p:nvSpPr>
        <p:spPr>
          <a:xfrm>
            <a:off x="1044000" y="1996200"/>
            <a:ext cx="355824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205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9eee7"/>
                </a:solidFill>
                <a:latin typeface="Quattrocento"/>
                <a:ea typeface="Quattrocento"/>
              </a:rPr>
              <a:t>ext4 (Extended File System 4)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7"/>
          <p:cNvSpPr/>
          <p:nvPr/>
        </p:nvSpPr>
        <p:spPr>
          <a:xfrm>
            <a:off x="4960080" y="1996200"/>
            <a:ext cx="8812800" cy="11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205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9eee7"/>
                </a:solidFill>
                <a:latin typeface="Quattrocento"/>
                <a:ea typeface="Quattrocento"/>
              </a:rPr>
              <a:t>The default file system for most modern Linux distributions. Provides advanced features like journaling, extended attributes, and larger file sizes.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8"/>
          <p:cNvSpPr/>
          <p:nvPr/>
        </p:nvSpPr>
        <p:spPr>
          <a:xfrm>
            <a:off x="1044000" y="3341520"/>
            <a:ext cx="355824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205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9eee7"/>
                </a:solidFill>
                <a:latin typeface="Quattrocento"/>
                <a:ea typeface="Quattrocento"/>
              </a:rPr>
              <a:t>XFS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9"/>
          <p:cNvSpPr/>
          <p:nvPr/>
        </p:nvSpPr>
        <p:spPr>
          <a:xfrm>
            <a:off x="4960080" y="3341520"/>
            <a:ext cx="9194040" cy="8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205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9eee7"/>
                </a:solidFill>
                <a:latin typeface="Quattrocento"/>
                <a:ea typeface="Quattrocento"/>
              </a:rPr>
              <a:t>A high-performance file system developed by Silicon Graphics. Optimized for large files and metadata-intensive workloads.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10"/>
          <p:cNvSpPr/>
          <p:nvPr/>
        </p:nvSpPr>
        <p:spPr>
          <a:xfrm>
            <a:off x="869040" y="4294080"/>
            <a:ext cx="13113360" cy="1064880"/>
          </a:xfrm>
          <a:prstGeom prst="rect">
            <a:avLst/>
          </a:prstGeom>
          <a:solidFill>
            <a:srgbClr val="234a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11"/>
          <p:cNvSpPr/>
          <p:nvPr/>
        </p:nvSpPr>
        <p:spPr>
          <a:xfrm>
            <a:off x="1044000" y="4406760"/>
            <a:ext cx="355824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205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9eee7"/>
                </a:solidFill>
                <a:latin typeface="Quattrocento"/>
                <a:ea typeface="Quattrocento"/>
              </a:rPr>
              <a:t>Btrfs (B-tree File System)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2"/>
          <p:cNvSpPr/>
          <p:nvPr/>
        </p:nvSpPr>
        <p:spPr>
          <a:xfrm>
            <a:off x="4960080" y="4406760"/>
            <a:ext cx="8831880" cy="8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205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9eee7"/>
                </a:solidFill>
                <a:latin typeface="Quattrocento"/>
                <a:ea typeface="Quattrocento"/>
              </a:rPr>
              <a:t>A modern, copy-on-write file system with features like built-in RAID, snapshots, and sub-volumes.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3"/>
          <p:cNvSpPr/>
          <p:nvPr/>
        </p:nvSpPr>
        <p:spPr>
          <a:xfrm>
            <a:off x="1044000" y="5472360"/>
            <a:ext cx="355824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205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9eee7"/>
                </a:solidFill>
                <a:latin typeface="Quattrocento"/>
                <a:ea typeface="Quattrocento"/>
              </a:rPr>
              <a:t>FAT (File Allocation Table)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4"/>
          <p:cNvSpPr/>
          <p:nvPr/>
        </p:nvSpPr>
        <p:spPr>
          <a:xfrm>
            <a:off x="4960080" y="5472360"/>
            <a:ext cx="8927280" cy="11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205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9eee7"/>
                </a:solidFill>
                <a:latin typeface="Quattrocento"/>
                <a:ea typeface="Quattrocento"/>
              </a:rPr>
              <a:t>A simple file system often used on removable media like USB drives. Provides compatibility with Windows and other operating systems.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15"/>
          <p:cNvSpPr/>
          <p:nvPr/>
        </p:nvSpPr>
        <p:spPr>
          <a:xfrm>
            <a:off x="869040" y="6705000"/>
            <a:ext cx="13113360" cy="1064880"/>
          </a:xfrm>
          <a:prstGeom prst="rect">
            <a:avLst/>
          </a:prstGeom>
          <a:solidFill>
            <a:srgbClr val="234a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16"/>
          <p:cNvSpPr/>
          <p:nvPr/>
        </p:nvSpPr>
        <p:spPr>
          <a:xfrm>
            <a:off x="1044000" y="6817680"/>
            <a:ext cx="355824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2205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9eee7"/>
                </a:solidFill>
                <a:latin typeface="Quattrocento"/>
                <a:ea typeface="Quattrocento"/>
              </a:rPr>
              <a:t>NTFS (New Technology File System)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7"/>
          <p:cNvSpPr/>
          <p:nvPr/>
        </p:nvSpPr>
        <p:spPr>
          <a:xfrm>
            <a:off x="4960080" y="6817680"/>
            <a:ext cx="9022320" cy="8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2205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9eee7"/>
                </a:solidFill>
                <a:latin typeface="Quattrocento"/>
                <a:ea typeface="Quattrocento"/>
              </a:rPr>
              <a:t>The default file system for Windows. Offers advanced features like encryption, access control lists, and file compression.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9405720" y="6788880"/>
            <a:ext cx="555480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ts val="5468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ffd9be"/>
                </a:solidFill>
                <a:latin typeface="Quattrocento"/>
                <a:ea typeface="Quattrocento"/>
              </a:rPr>
              <a:t>Thankyou. :)</a:t>
            </a:r>
            <a:endParaRPr b="0" lang="en-IN" sz="4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LibreOffice/24.2.0.3$Linux_X86_64 LibreOffice_project/420$Build-3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2024-04-15T13:12:47Z</dcterms:created>
  <dc:creator>PptxGenJS</dc:creator>
  <dc:description/>
  <dc:language>en-IN</dc:language>
  <cp:lastModifiedBy>Sameem Makhdoomi</cp:lastModifiedBy>
  <dcterms:modified xsi:type="dcterms:W3CDTF">2024-04-15T20:01:24Z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